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211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8090">
                    <a:alpha val="40000"/>
                  </a:srgbClr>
                </a:solidFill>
              </a:rPr>
              <a:t>+ − × ÷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Mathematical Operator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Symbol Classification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</a:rPr>
              <a:t>From Handwritten Images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3566160"/>
            <a:ext cx="4572000" cy="822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566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Adithyan  |  Jia  |  Theertha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Predictive Analytics  •  Topic 34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Automatically classify 10 handwritten mathematical operator symbols using machine learning — addressing challenges like visual similarity between symbols and natural handwriting variation.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468880"/>
            <a:ext cx="26517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68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Preprocess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Binarization, Skeletonization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32×32 Resize + Augmentation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468880"/>
            <a:ext cx="26517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468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926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HOG + Projection Profiles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+ Run-Length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468880"/>
            <a:ext cx="26517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4688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2926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SVM, KNN, Decision Tree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Macro F1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&amp; Symbols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500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before augmentation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3,500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After Augmentation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7× increase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operator symbols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32×32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5800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 Size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pixels (normalized)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10 Target Symbols: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3035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7432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plus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93392" y="301752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93392" y="3035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993392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minus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12464" y="301752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12464" y="3035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×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712464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mul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31536" y="301752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31536" y="3035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÷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431536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div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50608" y="301752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50608" y="3035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=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150608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equal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02336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" y="4041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≠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27432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not eq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993392" y="402336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993392" y="4041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&lt;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993392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less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12464" y="402336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712464" y="4041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&gt;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3712464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greater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31536" y="402336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31536" y="4041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±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5431536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plus-min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50608" y="402336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150608" y="4041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√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7150608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sqrt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Methodology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0058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500 synthetic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handwritten images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10 classes × 50 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788920"/>
            <a:ext cx="1645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005840"/>
            <a:ext cx="457200" cy="4572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93392" y="1417320"/>
            <a:ext cx="155448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20116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Otsu Binarization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Skeletonization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Resize 32×32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47872" y="2788920"/>
            <a:ext cx="1645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1104" y="1005840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12464" y="1417320"/>
            <a:ext cx="1554480" cy="502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Augmentation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03904" y="20116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Rotation ±10°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Scaling 0.9–1.1×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3500 total samples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66944" y="2788920"/>
            <a:ext cx="1645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0176" y="100584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31536" y="1417320"/>
            <a:ext cx="1554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1536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Extraction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22976" y="20116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HOG (1764)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Projection (64)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Run-Length (32)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86016" y="2788920"/>
            <a:ext cx="1645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608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99248" y="10058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9248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150608" y="1417320"/>
            <a:ext cx="15544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0608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42048" y="201168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SVM (RBF)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KNN (k=5)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Total Feature Vector: 1,860 features per image  |  Train/Test Split: 80/20 stratified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Results &amp;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SVM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RBF Kernel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137160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BEST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Accuracy: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2468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99.29%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Macro F1: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971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0.9929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Precision: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3474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0.9933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Recall: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977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0.9929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05840"/>
            <a:ext cx="26517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KNN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k = 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1965960"/>
            <a:ext cx="13716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Accuracy: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468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</a:rPr>
              <a:t>98.86%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Macro F1: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2971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</a:rPr>
              <a:t>0.9886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Precision: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3474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</a:rPr>
              <a:t>0.9888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977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Recall: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3977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</a:rPr>
              <a:t>0.9886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80760" y="10058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005840"/>
            <a:ext cx="26517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8076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Depth = None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20840" y="1965960"/>
            <a:ext cx="137160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Accuracy: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60920" y="24688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</a:rPr>
              <a:t>92.71%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Macro F1: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60920" y="2971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</a:rPr>
              <a:t>0.9274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1792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Precision: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60920" y="3474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</a:rPr>
              <a:t>0.9286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7920" y="3977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Recall: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60920" y="3977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</a:rPr>
              <a:t>0.9271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 &amp; Misclassification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SVM misclassified only 5 out of 700 test samples (99.29% accuracy)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Confusable Symbol Pairs Identified: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48840"/>
            <a:ext cx="54864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mul → sqrt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148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Diagonal strokes of × resemble √ hook after skeletonization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148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3 errors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715768"/>
            <a:ext cx="54864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157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!= → sqrt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7157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The slash in ≠ resembles the curved hook of 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2715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1 error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82696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82696"/>
            <a:ext cx="54864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8269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&gt; → sqrt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28269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V-shape of &gt; can look like √ curve after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32826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1 error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49624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849624"/>
            <a:ext cx="54864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962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− vs div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384962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Both share a horizontal bar — hard to distinguish without dots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384962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DT: 7 errors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41655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416552"/>
            <a:ext cx="54864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165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= vs !=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20" y="441655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≠ is visually identical to = with only a thin diagonal slash added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44165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KNN: 2 errors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Streamlit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</a:rPr>
              <a:t>Live web application — draw or upload a symbol → get instant AI prediction with confidence score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830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Draw Mode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16712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Freehand canvas — draw any operator with mouse or touch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7830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8288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Upload Mode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216712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Upload any PNG/JPG image of a handwritten symbol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7889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Model Selector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272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Switch between SVM, KNN, and Decision Tree in sidebar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27889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Confidence Chart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31272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Bar chart of class probabilities for all 10 symbols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703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37490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Preprocessing 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08736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See the 32×32 skeleton the model actually classifies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703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32120" y="37490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Instant 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408736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Real-time prediction with full name and confidence 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2C39A"/>
                </a:solidFill>
              </a:rPr>
              <a:t>🔗  Live App: https://share.streamlit.io/app/math-operator-classification-py2ylywnbp9i5rt44nkr4g/ 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 &amp; 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Conclusions: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3152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SVM achieved 99.29% accuracy — best among all 3 models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3152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HOG features most discriminative — top features in first 7 indices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73152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mul/sqrt and minus/div are the most confusable pairs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73152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Data augmentation boosted dataset from 500 → 3,500 samples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Work: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57276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Expand to full mathematical expressions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6712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103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Collect real human handwriting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76148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Try CNN / deep learning approaches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35584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291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Add real-time webcam input to app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4206240"/>
            <a:ext cx="6400800" cy="6858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2062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GitHub: </a:t>
            </a:r>
            <a:r>
              <a:rPr lang="en-US" sz="1200" dirty="0">
                <a:solidFill>
                  <a:srgbClr val="FFFFFF"/>
                </a:solidFill>
              </a:rPr>
              <a:t>github.com/your-repo-link  </a:t>
            </a:r>
            <a:r>
              <a:rPr lang="en-US" sz="1200" b="1" dirty="0">
                <a:solidFill>
                  <a:srgbClr val="02C39A"/>
                </a:solidFill>
              </a:rPr>
              <a:t>  |  App: </a:t>
            </a:r>
            <a:r>
              <a:rPr lang="en-US" sz="1200" dirty="0">
                <a:solidFill>
                  <a:srgbClr val="FFFFFF"/>
                </a:solidFill>
              </a:rPr>
              <a:t>your-app.streamlit.app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Adithyan  •  Jia  •  Theertha  |  Predictive Analytics — Topic 34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591</Words>
  <Application>Microsoft Office PowerPoint</Application>
  <PresentationFormat>On-screen Show (16:9)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Operator Symbol Classification</dc:title>
  <dc:subject>PptxGenJS Presentation</dc:subject>
  <dc:creator>PptxGenJS</dc:creator>
  <cp:lastModifiedBy>adithyanb276@gmail.com</cp:lastModifiedBy>
  <cp:revision>2</cp:revision>
  <dcterms:created xsi:type="dcterms:W3CDTF">2026-05-11T10:14:52Z</dcterms:created>
  <dcterms:modified xsi:type="dcterms:W3CDTF">2026-05-12T07:15:01Z</dcterms:modified>
</cp:coreProperties>
</file>